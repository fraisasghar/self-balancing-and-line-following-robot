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Tilt Angle (deg)</c:v>
                </c:pt>
              </c:strCache>
            </c:strRef>
          </c:tx>
          <c:spPr>
            <a:solidFill>
              <a:srgbClr val="4361EE"/>
            </a:solidFill>
            <a:ln w="31750" cap="flat">
              <a:solidFill>
                <a:srgbClr val="4361E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361EE"/>
              </a:solidFill>
              <a:ln w="9525" cap="flat">
                <a:solidFill>
                  <a:srgbClr val="4361E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Sheet1!$A$2:$A$32</c:f>
              <c:multiLvlStrCache>
                <c:ptCount val="31"/>
                <c:lvl>
                  <c:pt idx="0">
                    <c:v>0.0</c:v>
                  </c:pt>
                  <c:pt idx="1">
                    <c:v>0.1</c:v>
                  </c:pt>
                  <c:pt idx="2">
                    <c:v>0.2</c:v>
                  </c:pt>
                  <c:pt idx="3">
                    <c:v>0.3</c:v>
                  </c:pt>
                  <c:pt idx="4">
                    <c:v>0.4</c:v>
                  </c:pt>
                  <c:pt idx="5">
                    <c:v>0.5</c:v>
                  </c:pt>
                  <c:pt idx="6">
                    <c:v>0.6</c:v>
                  </c:pt>
                  <c:pt idx="7">
                    <c:v>0.7</c:v>
                  </c:pt>
                  <c:pt idx="8">
                    <c:v>0.8</c:v>
                  </c:pt>
                  <c:pt idx="9">
                    <c:v>0.9</c:v>
                  </c:pt>
                  <c:pt idx="10">
                    <c:v>1.0</c:v>
                  </c:pt>
                  <c:pt idx="11">
                    <c:v>1.1</c:v>
                  </c:pt>
                  <c:pt idx="12">
                    <c:v>1.2</c:v>
                  </c:pt>
                  <c:pt idx="13">
                    <c:v>1.3</c:v>
                  </c:pt>
                  <c:pt idx="14">
                    <c:v>1.4</c:v>
                  </c:pt>
                  <c:pt idx="15">
                    <c:v>1.5</c:v>
                  </c:pt>
                  <c:pt idx="16">
                    <c:v>1.6</c:v>
                  </c:pt>
                  <c:pt idx="17">
                    <c:v>1.7</c:v>
                  </c:pt>
                  <c:pt idx="18">
                    <c:v>1.8</c:v>
                  </c:pt>
                  <c:pt idx="19">
                    <c:v>1.9</c:v>
                  </c:pt>
                  <c:pt idx="20">
                    <c:v>2.0</c:v>
                  </c:pt>
                  <c:pt idx="21">
                    <c:v>2.1</c:v>
                  </c:pt>
                  <c:pt idx="22">
                    <c:v>2.2</c:v>
                  </c:pt>
                  <c:pt idx="23">
                    <c:v>2.3</c:v>
                  </c:pt>
                  <c:pt idx="24">
                    <c:v>2.4</c:v>
                  </c:pt>
                  <c:pt idx="25">
                    <c:v>2.5</c:v>
                  </c:pt>
                  <c:pt idx="26">
                    <c:v>2.6</c:v>
                  </c:pt>
                  <c:pt idx="27">
                    <c:v>2.7</c:v>
                  </c:pt>
                  <c:pt idx="28">
                    <c:v>2.8</c:v>
                  </c:pt>
                  <c:pt idx="29">
                    <c:v>2.9</c:v>
                  </c:pt>
                  <c:pt idx="30">
                    <c:v>3.0</c:v>
                  </c:pt>
                </c:lvl>
              </c:multiLvlStrCache>
            </c:multiLvlStrRef>
          </c:cat>
          <c:val>
            <c:numRef>
              <c:f>Sheet1!$B$2:$B$32</c:f>
              <c:numCache>
                <c:formatCode>General</c:formatCode>
                <c:ptCount val="31"/>
                <c:pt idx="0">
                  <c:v>12</c:v>
                </c:pt>
                <c:pt idx="1">
                  <c:v>10.3</c:v>
                </c:pt>
                <c:pt idx="2">
                  <c:v>6.78</c:v>
                </c:pt>
                <c:pt idx="3">
                  <c:v>3.23</c:v>
                </c:pt>
                <c:pt idx="4">
                  <c:v>0.57</c:v>
                </c:pt>
                <c:pt idx="5">
                  <c:v>-0.95</c:v>
                </c:pt>
                <c:pt idx="6">
                  <c:v>-1.49</c:v>
                </c:pt>
                <c:pt idx="7">
                  <c:v>-1.39</c:v>
                </c:pt>
                <c:pt idx="8">
                  <c:v>-0.98</c:v>
                </c:pt>
                <c:pt idx="9">
                  <c:v>-0.52</c:v>
                </c:pt>
                <c:pt idx="10">
                  <c:v>-0.15</c:v>
                </c:pt>
                <c:pt idx="11">
                  <c:v>0.08</c:v>
                </c:pt>
                <c:pt idx="12">
                  <c:v>0.18</c:v>
                </c:pt>
                <c:pt idx="13">
                  <c:v>0.18</c:v>
                </c:pt>
                <c:pt idx="14">
                  <c:v>0.14</c:v>
                </c:pt>
                <c:pt idx="15">
                  <c:v>0.08</c:v>
                </c:pt>
                <c:pt idx="16">
                  <c:v>0.03</c:v>
                </c:pt>
                <c:pt idx="17">
                  <c:v>0</c:v>
                </c:pt>
                <c:pt idx="18">
                  <c:v>-0.02</c:v>
                </c:pt>
                <c:pt idx="19">
                  <c:v>-0.02</c:v>
                </c:pt>
                <c:pt idx="20">
                  <c:v>-0.02</c:v>
                </c:pt>
                <c:pt idx="21">
                  <c:v>-0.01</c:v>
                </c:pt>
                <c:pt idx="22">
                  <c:v>-0.01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4A5568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4A5568"/>
                    </a:solidFill>
                    <a:latin typeface="Arial"/>
                  </a:rPr>
                  <a:t>Time (s)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9CDD3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A556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AEDF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4A5568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4A5568"/>
                    </a:solidFill>
                    <a:latin typeface="Arial"/>
                  </a:rPr>
                  <a:t>Tilt Angle (deg)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C9CDD3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56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dark_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21488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SBR-X</a:t>
            </a:r>
            <a:endParaRPr lang="en-US" sz="6600" dirty="0"/>
          </a:p>
        </p:txBody>
      </p:sp>
      <p:sp>
        <p:nvSpPr>
          <p:cNvPr id="4" name="Text 1"/>
          <p:cNvSpPr txBox="1"/>
          <p:nvPr/>
        </p:nvSpPr>
        <p:spPr>
          <a:xfrm>
            <a:off x="749808" y="32461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Self-Balancing Robot with Line Following &amp; Obstacle Avoidance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777240" y="3913632"/>
            <a:ext cx="2377440" cy="0"/>
          </a:xfrm>
          <a:prstGeom prst="line">
            <a:avLst/>
          </a:prstGeom>
          <a:noFill/>
          <a:ln w="38100">
            <a:solidFill>
              <a:srgbClr val="B8860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49808" y="4069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Showcase  •  Embedded Systems &amp; Control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49808" y="5989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Frais Asghar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62727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66928" cy="566928"/>
          </a:xfrm>
          <a:prstGeom prst="ellipse">
            <a:avLst/>
          </a:prstGeom>
          <a:solidFill>
            <a:srgbClr val="1B263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636776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Objectives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002536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SBR-X exists and what it set out to do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587752"/>
            <a:ext cx="566928" cy="566928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5877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53288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Design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289864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control loop, and mode logic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483864"/>
            <a:ext cx="566928" cy="56692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4838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34290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37947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Chassis, components, and wiring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379976"/>
            <a:ext cx="566928" cy="566928"/>
          </a:xfrm>
          <a:prstGeom prst="ellipse">
            <a:avLst/>
          </a:prstGeom>
          <a:solidFill>
            <a:srgbClr val="6A040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3799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432511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&amp; Results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508760" y="469087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fusion, PID tuning, and outcomes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276088"/>
            <a:ext cx="566928" cy="566928"/>
          </a:xfrm>
          <a:prstGeom prst="ellipse">
            <a:avLst/>
          </a:prstGeom>
          <a:solidFill>
            <a:srgbClr val="22325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52760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522122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1508760" y="5586984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 for the platform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955280" y="1691640"/>
            <a:ext cx="3566160" cy="42976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  <a:effectLst>
            <a:outerShdw sx="100000" sy="100000" kx="0" ky="0" algn="bl" rotWithShape="0" blurRad="127000" dist="38100" dir="5400000">
              <a:srgbClr val="0D1B2A">
                <a:alpha val="14000"/>
              </a:srgbClr>
            </a:outerShdw>
          </a:effectLst>
        </p:spPr>
      </p:sp>
      <p:pic>
        <p:nvPicPr>
          <p:cNvPr id="25" name="Image 0" descr="assets/robo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83880" y="1920240"/>
            <a:ext cx="3108960" cy="2642616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8183880" y="47091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SBR-X Chassis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8183880" y="505663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deck, sensor stage, and dual-wheel drive base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SBR-X Technical Showcase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Balance and Autonomy Rarely Coexist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6035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Two-wheeled robots are naturally unstable and fall without constant correction. Most hobby robots handle only one behavior at a time, either balancing or driving, rarely both together. There was a need for a robot that could stay upright on its own while still reacting to its surroundings.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1188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361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377647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wheels, zero static support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361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473659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behaviors needed in one system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53212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361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569671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microcontroller, no external compute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040880" y="1554480"/>
            <a:ext cx="4480560" cy="4434840"/>
          </a:xfrm>
          <a:prstGeom prst="roundRect">
            <a:avLst>
              <a:gd name="adj" fmla="val 1649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27000" dist="38100" dir="5400000">
              <a:srgbClr val="0D1B2A">
                <a:alpha val="14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406640" y="1874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CORRECTION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406640" y="219456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two-wheeled platform falls in under a second once it tips past its recoverable angle.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406640" y="3200400"/>
            <a:ext cx="3749040" cy="0"/>
          </a:xfrm>
          <a:prstGeom prst="line">
            <a:avLst/>
          </a:prstGeom>
          <a:noFill/>
          <a:ln w="12700">
            <a:solidFill>
              <a:srgbClr val="3A4A6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06640" y="34015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SBR-X SOLVES THIS BY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406640" y="374904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0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Continuous PID correction at a fixed rate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7406640" y="425196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0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 fail-safe stop outside recoverable range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7406640" y="475488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0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Driving logic that only biases, never overrides, balance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SBR-X Technical Showcase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set out to build a robot that balances on its own and still behaves intelligently while moving, combining stable control with real-time sensing in a single compact system.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  <a:effectLst>
            <a:outerShdw sx="100000" sy="100000" kx="0" ky="0" algn="bl" rotWithShape="0" blurRad="127000" dist="38100" dir="5400000">
              <a:srgbClr val="0D1B2A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587752"/>
            <a:ext cx="457200" cy="457200"/>
          </a:xfrm>
          <a:prstGeom prst="ellipse">
            <a:avLst/>
          </a:prstGeom>
          <a:solidFill>
            <a:srgbClr val="1B263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04672" y="2587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20040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Sense Tilt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557016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IMU data and filter it for a stable angle estimate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233172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  <a:effectLst>
            <a:outerShdw sx="100000" sy="100000" kx="0" ky="0" algn="bl" rotWithShape="0" blurRad="127000" dist="38100" dir="5400000">
              <a:srgbClr val="0D1B2A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99432" y="2587752"/>
            <a:ext cx="457200" cy="457200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99432" y="2587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99432" y="320040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 Upright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599432" y="3557016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PID loop that keeps the robot balanced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38160" y="233172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  <a:effectLst>
            <a:outerShdw sx="100000" sy="100000" kx="0" ky="0" algn="bl" rotWithShape="0" blurRad="127000" dist="38100" dir="5400000">
              <a:srgbClr val="0D1B2A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94192" y="2587752"/>
            <a:ext cx="457200" cy="457200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94192" y="2587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394192" y="320040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Follow a Line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394192" y="3557016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 reflectance line while remaining balanced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38912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  <a:effectLst>
            <a:outerShdw sx="100000" sy="100000" kx="0" ky="0" algn="bl" rotWithShape="0" blurRad="127000" dist="38100" dir="5400000">
              <a:srgbClr val="0D1B2A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4672" y="4645152"/>
            <a:ext cx="457200" cy="457200"/>
          </a:xfrm>
          <a:prstGeom prst="ellipse">
            <a:avLst/>
          </a:prstGeom>
          <a:solidFill>
            <a:srgbClr val="6A040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04672" y="4645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04672" y="525780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Avoid Obstacles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04672" y="5614416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and steer around obstacles ahead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43400" y="438912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  <a:effectLst>
            <a:outerShdw sx="100000" sy="100000" kx="0" ky="0" algn="bl" rotWithShape="0" blurRad="127000" dist="38100" dir="5400000">
              <a:srgbClr val="0D1B2A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99432" y="4645152"/>
            <a:ext cx="457200" cy="457200"/>
          </a:xfrm>
          <a:prstGeom prst="ellipse">
            <a:avLst/>
          </a:prstGeom>
          <a:solidFill>
            <a:srgbClr val="22325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599432" y="4645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599432" y="525780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Switch Modes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4599432" y="5614416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behaviors with a single push button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138160" y="438912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  <a:effectLst>
            <a:outerShdw sx="100000" sy="100000" kx="0" ky="0" algn="bl" rotWithShape="0" blurRad="127000" dist="38100" dir="5400000">
              <a:srgbClr val="0D1B2A">
                <a:alpha val="14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94192" y="4645152"/>
            <a:ext cx="457200" cy="457200"/>
          </a:xfrm>
          <a:prstGeom prst="ellipse">
            <a:avLst/>
          </a:prstGeom>
          <a:solidFill>
            <a:srgbClr val="1D2F8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394192" y="4645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394192" y="525780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Standalone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8394192" y="5614416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everything on one microcontroller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SBR-X Technical Showcase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Sensing, control, and actuation form three clear stages. Every actuation command traces back through the same balance loop, so driving behaviors only steer, they never override stability.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106424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  <a:effectLst>
            <a:outerShdw sx="100000" sy="100000" kx="0" ky="0" algn="bl" rotWithShape="0" blurRad="127000" dist="38100" dir="5400000">
              <a:srgbClr val="0D1B2A">
                <a:alpha val="14000"/>
              </a:srgbClr>
            </a:outerShdw>
          </a:effectLst>
        </p:spPr>
      </p:sp>
      <p:pic>
        <p:nvPicPr>
          <p:cNvPr id="6" name="Image 0" descr="assets/system_architec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8680" y="2331720"/>
            <a:ext cx="10424160" cy="3657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14400" y="5989320"/>
            <a:ext cx="201168" cy="201168"/>
          </a:xfrm>
          <a:prstGeom prst="rect">
            <a:avLst/>
          </a:prstGeom>
          <a:solidFill>
            <a:srgbClr val="1B263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207008" y="59436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Sensing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91840" y="5989320"/>
            <a:ext cx="201168" cy="2011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584448" y="59436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669280" y="5989320"/>
            <a:ext cx="201168" cy="201168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961888" y="59436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Core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046720" y="5989320"/>
            <a:ext cx="201168" cy="20116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339328" y="59436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Actuation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SBR-X Technical Showcase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Balance Control Loop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runs continuously at a fixed rate: read the tilt angle, check it is recoverable, compute a PID correction, apply the active mode's bias, and drive the motors. Out-of-range tilt triggers an immediate fail-safe stop.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3520440"/>
            <a:ext cx="402336" cy="402336"/>
          </a:xfrm>
          <a:prstGeom prst="ellipse">
            <a:avLst/>
          </a:prstGeom>
          <a:solidFill>
            <a:srgbClr val="1B26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3520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53872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IMU angle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4087368"/>
            <a:ext cx="402336" cy="402336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4087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410565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safe tilt range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654296"/>
            <a:ext cx="402336" cy="402336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4654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467258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PID error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221224"/>
            <a:ext cx="402336" cy="402336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52212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523951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mode bias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5788152"/>
            <a:ext cx="402336" cy="402336"/>
          </a:xfrm>
          <a:prstGeom prst="ellipse">
            <a:avLst/>
          </a:prstGeom>
          <a:solidFill>
            <a:srgbClr val="1B263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57881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58064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PWM to motors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89320" y="1481328"/>
            <a:ext cx="562356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  <a:effectLst>
            <a:outerShdw sx="100000" sy="100000" kx="0" ky="0" algn="bl" rotWithShape="0" blurRad="127000" dist="38100" dir="5400000">
              <a:srgbClr val="0D1B2A">
                <a:alpha val="14000"/>
              </a:srgbClr>
            </a:outerShdw>
          </a:effectLst>
        </p:spPr>
      </p:sp>
      <p:pic>
        <p:nvPicPr>
          <p:cNvPr id="21" name="Image 0" descr="assets/control_loo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178040" y="1645920"/>
            <a:ext cx="3246120" cy="4572000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SBR-X Technical Showcase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 State Machine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push button cycles through all three modes. Balance stays active underneath at every stage, the button only changes which behavior biases the lean angle.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6424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  <a:effectLst>
            <a:outerShdw sx="100000" sy="100000" kx="0" ky="0" algn="bl" rotWithShape="0" blurRad="127000" dist="38100" dir="5400000">
              <a:srgbClr val="0D1B2A">
                <a:alpha val="14000"/>
              </a:srgbClr>
            </a:outerShdw>
          </a:effectLst>
        </p:spPr>
      </p:sp>
      <p:pic>
        <p:nvPicPr>
          <p:cNvPr id="6" name="Image 0" descr="assets/mode_state_machin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2743200"/>
            <a:ext cx="10332720" cy="1828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5349240"/>
            <a:ext cx="146304" cy="685800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04672" y="53035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Balance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804672" y="5614416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mode. Holds an upright position on two wheels.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25112" y="5349240"/>
            <a:ext cx="146304" cy="685800"/>
          </a:xfrm>
          <a:prstGeom prst="rect">
            <a:avLst/>
          </a:prstGeom>
          <a:solidFill>
            <a:srgbClr val="1B263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81144" y="53035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 Following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4581144" y="5614416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a line using the IR reflectance array.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101584" y="5349240"/>
            <a:ext cx="146304" cy="685800"/>
          </a:xfrm>
          <a:prstGeom prst="rect">
            <a:avLst/>
          </a:prstGeom>
          <a:solidFill>
            <a:srgbClr val="6A040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357616" y="53035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Obstacle Avoidance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8357616" y="5614416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Steers around obstacles using ultrasonic sensors.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SBR-X Technical Showcase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SBR-X Chassis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206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  <a:effectLst>
            <a:outerShdw sx="100000" sy="100000" kx="0" ky="0" algn="bl" rotWithShape="0" blurRad="127000" dist="38100" dir="5400000">
              <a:srgbClr val="0D1B2A">
                <a:alpha val="14000"/>
              </a:srgbClr>
            </a:outerShdw>
          </a:effectLst>
        </p:spPr>
      </p:sp>
      <p:pic>
        <p:nvPicPr>
          <p:cNvPr id="5" name="Image 0" descr="assets/robo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8680" y="1874520"/>
            <a:ext cx="4480560" cy="3813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35040" y="1691640"/>
            <a:ext cx="502920" cy="502920"/>
          </a:xfrm>
          <a:prstGeom prst="ellipse">
            <a:avLst/>
          </a:prstGeom>
          <a:solidFill>
            <a:srgbClr val="1B263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0350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720840" y="166420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Battery Deck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720840" y="203911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tier. Onboard Li-ion power for logic and motors.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035040" y="3108960"/>
            <a:ext cx="502920" cy="502920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03504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720840" y="308152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Sensor &amp; Driver Stage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720840" y="345643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tier. IMU, ultrasonic sensors, and motor driver.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035040" y="4526280"/>
            <a:ext cx="502920" cy="502920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035040" y="4526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720840" y="449884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 Base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720840" y="487375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tier. Dual DC gear motors and wheels.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SBR-X Technical Showcase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Bill of Materials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4480560"/>
        </p:xfrm>
        <a:graphic>
          <a:graphicData uri="http://schemas.openxmlformats.org/drawingml/2006/table">
            <a:tbl>
              <a:tblPr/>
              <a:tblGrid>
                <a:gridCol w="3749040"/>
                <a:gridCol w="6035040"/>
                <a:gridCol w="1280160"/>
              </a:tblGrid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Arduino Uno / Nano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controller, runs the PID loop and mode logic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MPU6050 (accel + gyro)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Measures tilt angle and angular velocity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Dual ultrasonic sensor module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Forward obstacle detection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 line sensor array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detection for line-following mode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L298N / TB6612FNG driver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Drives both DC motors from PWM signals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 gear motors with wheels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 wheels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Li-ion battery pack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Onboard power for logic and motors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Acrylic chassis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Tiered structural frame for all stages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 select push button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Switches between all three modes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list based on the pictured build. Update part names and quantities to match your final components.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SBR-X Technical Showcase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Wiring &amp; Pin Map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7315200" cy="3931920"/>
        </p:xfrm>
        <a:graphic>
          <a:graphicData uri="http://schemas.openxmlformats.org/drawingml/2006/table">
            <a:tbl>
              <a:tblPr/>
              <a:tblGrid>
                <a:gridCol w="2377440"/>
                <a:gridCol w="2926080"/>
                <a:gridCol w="2011680"/>
              </a:tblGrid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Controller Pin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SDA / SCL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MPU6050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A4 / A5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 / Echo (L)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Ultrasonic sensor, left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 / D3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 / Echo (R)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Ultrasonic sensor, right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D4 / D5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 array (analog)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sensor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A0 to A3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IN1 to IN4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 driver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D6 to D9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 / ENB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 driver (PWM speed)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D10 / D11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 button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 button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183880" y="1554480"/>
            <a:ext cx="3429000" cy="3931920"/>
          </a:xfrm>
          <a:prstGeom prst="roundRect">
            <a:avLst>
              <a:gd name="adj" fmla="val 2133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27000" dist="38100" dir="5400000">
              <a:srgbClr val="0D1B2A">
                <a:alpha val="14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503920" y="1828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LAYERED THIS WAY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2286000"/>
            <a:ext cx="2834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feed the mode logic, never the motors directly. Every pin ultimately routes through the PID loop, so a wiring or sensor fault can be caught by the fail-safe stop instead of driving the motors blind.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669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Placeholders, replace with the actual wiring once finalized.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SBR-X Technical Showcase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Control System 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  <a:effectLst>
            <a:outerShdw sx="100000" sy="100000" kx="0" ky="0" algn="bl" rotWithShape="0" blurRad="127000" dist="38100" dir="5400000">
              <a:srgbClr val="0D1B2A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11680"/>
            <a:ext cx="548640" cy="548640"/>
          </a:xfrm>
          <a:prstGeom prst="ellipse">
            <a:avLst/>
          </a:prstGeom>
          <a:solidFill>
            <a:srgbClr val="1B26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7432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Sensor Fusion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68680" y="3227832"/>
            <a:ext cx="548640" cy="0"/>
          </a:xfrm>
          <a:prstGeom prst="line">
            <a:avLst/>
          </a:prstGeom>
          <a:noFill/>
          <a:ln w="31750">
            <a:solidFill>
              <a:srgbClr val="1B263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3429000"/>
            <a:ext cx="2880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complementary filter blends the gyroscope's fast, drifting angle with the accelerometer's slow, drift-free angle into one stable tilt estimate.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43400" y="169164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  <a:effectLst>
            <a:outerShdw sx="100000" sy="100000" kx="0" ky="0" algn="bl" rotWithShape="0" blurRad="127000" dist="38100" dir="5400000">
              <a:srgbClr val="0D1B2A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2011680"/>
            <a:ext cx="548640" cy="548640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6344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27432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PID Control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663440" y="3227832"/>
            <a:ext cx="548640" cy="0"/>
          </a:xfrm>
          <a:prstGeom prst="line">
            <a:avLst/>
          </a:prstGeom>
          <a:noFill/>
          <a:ln w="31750">
            <a:solidFill>
              <a:srgbClr val="4361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63440" y="3429000"/>
            <a:ext cx="2880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Proportional, integral, and derivative terms turn the tilt error into a motor correction that settles quickly instead of oscillating or drifting.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38160" y="169164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  <a:effectLst>
            <a:outerShdw sx="100000" sy="100000" kx="0" ky="0" algn="bl" rotWithShape="0" blurRad="127000" dist="38100" dir="5400000">
              <a:srgbClr val="0D1B2A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58200" y="2011680"/>
            <a:ext cx="548640" cy="548640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45820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458200" y="27432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 Logic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458200" y="3227832"/>
            <a:ext cx="548640" cy="0"/>
          </a:xfrm>
          <a:prstGeom prst="line">
            <a:avLst/>
          </a:prstGeom>
          <a:noFill/>
          <a:ln w="31750">
            <a:solidFill>
              <a:srgbClr val="B8860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58200" y="3429000"/>
            <a:ext cx="2880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offset or obstacle distance is converted into a small bias on the PID target, so driving never bypasses the balance loop.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SBR-X Technical Showcase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Illustrative PID Step Response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step response: after a disturbance, a well-tuned PID loop brings the tilt angle back within a tolerance band and holds it there. Replace with logged sensor data once test runs are recorded.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106424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  <a:effectLst>
            <a:outerShdw sx="100000" sy="100000" kx="0" ky="0" algn="bl" rotWithShape="0" blurRad="127000" dist="38100" dir="5400000">
              <a:srgbClr val="0D1B2A">
                <a:alpha val="14000"/>
              </a:srgbClr>
            </a:outerShdw>
          </a:effectLst>
        </p:spPr>
      </p:sp>
      <p:graphicFrame>
        <p:nvGraphicFramePr>
          <p:cNvPr id="6" name="Chart 0" descr=""/>
          <p:cNvGraphicFramePr/>
          <p:nvPr/>
        </p:nvGraphicFramePr>
        <p:xfrm>
          <a:off x="822960" y="2331720"/>
          <a:ext cx="105156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SBR-X Technical Showcase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Observed Behavior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4944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109728" cy="694944"/>
          </a:xfrm>
          <a:prstGeom prst="rect">
            <a:avLst/>
          </a:prstGeom>
          <a:solidFill>
            <a:srgbClr val="1B26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76479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Stable Balance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657600" y="176479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position through idle, line following, and obstacle avoidance.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532888"/>
            <a:ext cx="694944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532888"/>
            <a:ext cx="109728" cy="694944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2606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Accurate Line Tracking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26060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a line reliably using the IR reflectance array.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374136"/>
            <a:ext cx="694944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374136"/>
            <a:ext cx="109728" cy="694944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344728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Reliable Obstacle Steering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657600" y="344728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and steers around obstacles via ultrasonic sensing.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215384"/>
            <a:ext cx="694944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215384"/>
            <a:ext cx="109728" cy="694944"/>
          </a:xfrm>
          <a:prstGeom prst="rect">
            <a:avLst/>
          </a:prstGeom>
          <a:solidFill>
            <a:srgbClr val="6A040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428853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Instant Mode Switching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657600" y="4288536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Responds to each button press without dropping balance.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5056632"/>
            <a:ext cx="694944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5056632"/>
            <a:ext cx="109728" cy="694944"/>
          </a:xfrm>
          <a:prstGeom prst="rect">
            <a:avLst/>
          </a:prstGeom>
          <a:solidFill>
            <a:srgbClr val="22325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68680" y="512978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Fully Standalone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3657600" y="5129784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entirely on the microcontroller, no external computer.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818120" y="1691640"/>
            <a:ext cx="3794760" cy="4206240"/>
          </a:xfrm>
          <a:prstGeom prst="roundRect">
            <a:avLst>
              <a:gd name="adj" fmla="val 1928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27000" dist="38100" dir="5400000">
              <a:srgbClr val="0D1B2A">
                <a:alpha val="14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138160" y="1965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FOCUS AREAS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138160" y="23774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DF1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Max tilt deviation while holding balance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8138160" y="294436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DF1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Recovery time from a push disturbance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8138160" y="351129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DF1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Line-track completion rate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8138160" y="407822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DF1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Obstacle detection range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8138160" y="464515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DF1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Mode-switch response time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SBR-X Technical Showcase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  <a:effectLst>
            <a:outerShdw sx="100000" sy="100000" kx="0" ky="0" algn="bl" rotWithShape="0" blurRad="127000" dist="38100" dir="5400000">
              <a:srgbClr val="0D1B2A">
                <a:alpha val="14000"/>
              </a:srgbClr>
            </a:outerShdw>
          </a:effectLst>
        </p:spPr>
      </p:sp>
      <p:pic>
        <p:nvPicPr>
          <p:cNvPr id="5" name="Image 0" descr="assets/roadm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05840" y="1920240"/>
            <a:ext cx="10149840" cy="1554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3977640"/>
            <a:ext cx="208483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3977640"/>
            <a:ext cx="2084832" cy="91440"/>
          </a:xfrm>
          <a:prstGeom prst="rect">
            <a:avLst/>
          </a:prstGeom>
          <a:solidFill>
            <a:srgbClr val="1B263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13232" y="4233672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13232" y="4599432"/>
            <a:ext cx="17556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Self-balancing core and PID tuning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770632" y="3977640"/>
            <a:ext cx="208483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770632" y="3977640"/>
            <a:ext cx="2084832" cy="91440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2935224" y="4233672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361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2935224" y="4599432"/>
            <a:ext cx="17556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Line-following mode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992624" y="3977640"/>
            <a:ext cx="208483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992624" y="3977640"/>
            <a:ext cx="2084832" cy="9144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157216" y="4233672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5157216" y="4599432"/>
            <a:ext cx="17556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Obstacle-avoidance mode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214616" y="3977640"/>
            <a:ext cx="208483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214616" y="3977640"/>
            <a:ext cx="2084832" cy="91440"/>
          </a:xfrm>
          <a:prstGeom prst="rect">
            <a:avLst/>
          </a:prstGeom>
          <a:solidFill>
            <a:srgbClr val="6A040F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379208" y="4233672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0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4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7379208" y="4599432"/>
            <a:ext cx="17556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Bluetooth / app control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9436608" y="3977640"/>
            <a:ext cx="208483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436608" y="3977640"/>
            <a:ext cx="2084832" cy="91440"/>
          </a:xfrm>
          <a:prstGeom prst="rect">
            <a:avLst/>
          </a:prstGeom>
          <a:solidFill>
            <a:srgbClr val="223250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9601200" y="4233672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2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5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9601200" y="4599432"/>
            <a:ext cx="17556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mapping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SBR-X Technical Showcase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dark_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22860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4" name="Text 1"/>
          <p:cNvSpPr txBox="1"/>
          <p:nvPr/>
        </p:nvSpPr>
        <p:spPr>
          <a:xfrm>
            <a:off x="749808" y="32461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SBR-X shows that a single microcontroller can balance a two-wheeled robot in real time while still running autonomous driving behaviors on top of that balance loop.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777240" y="4297680"/>
            <a:ext cx="2377440" cy="0"/>
          </a:xfrm>
          <a:prstGeom prst="line">
            <a:avLst/>
          </a:prstGeom>
          <a:noFill/>
          <a:ln w="38100">
            <a:solidFill>
              <a:srgbClr val="B8860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49808" y="5852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Asghar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49808" y="61996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github.com/fraisasghar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SBR-X - Self-Balancing Robot</dc:title>
  <dc:subject>PptxGenJS Presentation</dc:subject>
  <dc:creator>Frais Asghar</dc:creator>
  <cp:lastModifiedBy>Frais Asghar</cp:lastModifiedBy>
  <cp:revision>1</cp:revision>
  <dcterms:created xsi:type="dcterms:W3CDTF">2026-09-07T12:01:22Z</dcterms:created>
  <dcterms:modified xsi:type="dcterms:W3CDTF">2026-09-07T12:01:22Z</dcterms:modified>
</cp:coreProperties>
</file>